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5" r:id="rId3"/>
    <p:sldId id="267" r:id="rId4"/>
    <p:sldId id="268" r:id="rId5"/>
    <p:sldId id="265" r:id="rId6"/>
    <p:sldId id="257" r:id="rId7"/>
    <p:sldId id="258" r:id="rId8"/>
    <p:sldId id="260" r:id="rId9"/>
    <p:sldId id="259" r:id="rId10"/>
    <p:sldId id="270" r:id="rId11"/>
    <p:sldId id="269" r:id="rId12"/>
    <p:sldId id="261" r:id="rId13"/>
    <p:sldId id="262" r:id="rId14"/>
    <p:sldId id="263" r:id="rId15"/>
    <p:sldId id="272" r:id="rId16"/>
    <p:sldId id="278" r:id="rId17"/>
    <p:sldId id="281" r:id="rId18"/>
    <p:sldId id="273" r:id="rId19"/>
    <p:sldId id="274" r:id="rId20"/>
    <p:sldId id="277" r:id="rId21"/>
    <p:sldId id="280" r:id="rId22"/>
    <p:sldId id="279" r:id="rId23"/>
    <p:sldId id="28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3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658F7-8415-4BA5-AD63-F277F90B82E1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5B3D5-75F0-4515-9050-9BF4E6F908E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393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5B3D5-75F0-4515-9050-9BF4E6F908E6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27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014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299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654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061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573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1556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226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1602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000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5900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662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E5E373B-30F9-4A76-A3E6-6636CA1F45B3}" type="datetimeFigureOut">
              <a:rPr lang="de-AT" smtClean="0"/>
              <a:t>11.03.2026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EE6AF9F-9908-49DE-BF9A-D16466AF54EE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6012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936AD8-D604-EB29-EB24-56B0ED50E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Current Research Areas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FBF95A-2185-A250-4A13-454699BB45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Group:</a:t>
            </a:r>
            <a:br>
              <a:rPr lang="en-GB" noProof="0" dirty="0"/>
            </a:br>
            <a:r>
              <a:rPr lang="en-GB" noProof="0" dirty="0"/>
              <a:t>Mariacher, Fritzer, </a:t>
            </a:r>
            <a:r>
              <a:rPr lang="en-GB" noProof="0" dirty="0" err="1"/>
              <a:t>Obwaller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2857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87A5-2CC7-157B-72B6-BA5A296F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423F9-1E9B-CC31-BFAE-A1671FDE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Goal Day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559ECB-F708-FD51-F469-29717F77D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Create a working lawn mower robot inside of </a:t>
            </a:r>
            <a:r>
              <a:rPr lang="en-GB" noProof="0" dirty="0" err="1"/>
              <a:t>Matlab</a:t>
            </a:r>
            <a:endParaRPr lang="en-GB" noProof="0" dirty="0"/>
          </a:p>
          <a:p>
            <a:pPr marL="274320" lvl="1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1443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8D7E5-450D-D02A-612A-7633CC5C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Requirements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4ACA98-68DC-2748-E650-73BFC1675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Get the highest area coverage possible in the given time</a:t>
            </a:r>
          </a:p>
          <a:p>
            <a:r>
              <a:rPr lang="en-GB" noProof="0" dirty="0"/>
              <a:t>Stay inside the lawn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2887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E0D64-748E-CF2E-709A-A4EA6F4F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Setup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7FE674-517E-4B43-86B3-A1CB70D21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Coding on one laptop</a:t>
            </a:r>
          </a:p>
          <a:p>
            <a:r>
              <a:rPr lang="en-GB" noProof="0" dirty="0"/>
              <a:t>Others: documenting, brainstorming, drawing</a:t>
            </a:r>
          </a:p>
          <a:p>
            <a:r>
              <a:rPr lang="en-GB" noProof="0" dirty="0"/>
              <a:t>Used the given files </a:t>
            </a:r>
            <a:r>
              <a:rPr lang="en-GB" noProof="0" dirty="0" err="1"/>
              <a:t>vom</a:t>
            </a:r>
            <a:r>
              <a:rPr lang="en-GB" noProof="0" dirty="0"/>
              <a:t> lecturer due to time constraints</a:t>
            </a:r>
          </a:p>
        </p:txBody>
      </p:sp>
    </p:spTree>
    <p:extLst>
      <p:ext uri="{BB962C8B-B14F-4D97-AF65-F5344CB8AC3E}">
        <p14:creationId xmlns:p14="http://schemas.microsoft.com/office/powerpoint/2010/main" val="2858140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3F5BE-1BEE-A0CF-38A3-114F8D84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Plan Day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9B06AD-DE79-9A71-F2A6-8A22FCA3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Using the template from </a:t>
            </a:r>
            <a:r>
              <a:rPr lang="en-GB" noProof="0" dirty="0" err="1"/>
              <a:t>lectuerer</a:t>
            </a:r>
            <a:endParaRPr lang="en-GB" noProof="0" dirty="0"/>
          </a:p>
          <a:p>
            <a:r>
              <a:rPr lang="en-GB" noProof="0" dirty="0"/>
              <a:t>Detection of the area coverage</a:t>
            </a:r>
          </a:p>
          <a:p>
            <a:r>
              <a:rPr lang="en-GB" noProof="0" dirty="0"/>
              <a:t>Run random walk (given) and determine starting point (area coverage)</a:t>
            </a:r>
          </a:p>
          <a:p>
            <a:r>
              <a:rPr lang="en-GB" noProof="0" dirty="0"/>
              <a:t>Try to improve given random walk </a:t>
            </a:r>
          </a:p>
          <a:p>
            <a:pPr lvl="1"/>
            <a:r>
              <a:rPr lang="en-GB" noProof="0" dirty="0"/>
              <a:t>Improve area coverage</a:t>
            </a:r>
          </a:p>
          <a:p>
            <a:pPr marL="274320" lvl="1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6245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4C08A-F2FB-023C-253F-5ECB73EA3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436EC0-39B9-EF15-D972-827533D31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Add </a:t>
            </a:r>
            <a:r>
              <a:rPr lang="en-GB" b="1" noProof="0" dirty="0"/>
              <a:t>area coverage </a:t>
            </a:r>
            <a:r>
              <a:rPr lang="en-GB" noProof="0" dirty="0"/>
              <a:t>to </a:t>
            </a:r>
            <a:r>
              <a:rPr lang="en-GB" noProof="0" dirty="0" err="1"/>
              <a:t>stopDemo.m</a:t>
            </a:r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241B681-1DB7-5B93-9C39-B392069D8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613" y="2369301"/>
            <a:ext cx="6288773" cy="4123574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F601DDEF-A038-CAB4-0381-A0F7A3ABAC05}"/>
              </a:ext>
            </a:extLst>
          </p:cNvPr>
          <p:cNvSpPr/>
          <p:nvPr/>
        </p:nvSpPr>
        <p:spPr>
          <a:xfrm>
            <a:off x="3337089" y="4345757"/>
            <a:ext cx="1536569" cy="301657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6174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FD0D2-6679-35FF-9C6A-9AD11A07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0F6167-E902-245C-AFC8-60DB9EA68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Random walk algorithm (given)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26573CA-DCF2-8210-BCFA-E050DA75D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549" y="2583266"/>
            <a:ext cx="5020901" cy="4006119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821D077-7F0F-AFB6-2AD4-DF7BB6A328D8}"/>
              </a:ext>
            </a:extLst>
          </p:cNvPr>
          <p:cNvSpPr/>
          <p:nvPr/>
        </p:nvSpPr>
        <p:spPr>
          <a:xfrm>
            <a:off x="4573680" y="2522306"/>
            <a:ext cx="3044638" cy="413934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5282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36A1F-6DD2-4B07-7976-99BD46E7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F34F96-7FF3-F307-892D-0256ADFE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Improve the random walk algorithm</a:t>
            </a:r>
          </a:p>
          <a:p>
            <a:pPr lvl="1"/>
            <a:r>
              <a:rPr lang="en-GB" noProof="0" dirty="0"/>
              <a:t>Determination of angle (between robot and wall)</a:t>
            </a:r>
          </a:p>
          <a:p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ECCA31-3C76-3DA8-C140-6B015D9B4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186" y="2979745"/>
            <a:ext cx="5091628" cy="364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5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3A464-E295-A5AD-535E-6DF7467E4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6CE05E24-7D8C-3529-BEE5-809AF68D8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60" y="1759637"/>
            <a:ext cx="4196082" cy="4351338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601322E-5B37-3848-B93A-E2CD9DD1A5C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Trying</a:t>
            </a:r>
          </a:p>
          <a:p>
            <a:pPr lvl="1"/>
            <a:r>
              <a:rPr lang="en-GB" noProof="0" dirty="0"/>
              <a:t>Random return path inside the ẞ window</a:t>
            </a:r>
          </a:p>
          <a:p>
            <a:pPr lvl="2"/>
            <a:r>
              <a:rPr lang="en-GB" noProof="0" dirty="0"/>
              <a:t>Turn: α + 90° ± random (0-1) * ẞ/2</a:t>
            </a:r>
          </a:p>
          <a:p>
            <a:pPr lvl="1"/>
            <a:endParaRPr lang="en-GB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D1FF17-0E94-24B6-A9F6-3BCEF7C46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3424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49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949C-241E-1DB3-D9C4-F69C5199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FEC9F-000B-B029-E23F-2FD73765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EB6D4FBB-1003-4E78-A436-578896AC3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865893"/>
              </p:ext>
            </p:extLst>
          </p:nvPr>
        </p:nvGraphicFramePr>
        <p:xfrm>
          <a:off x="838200" y="3053230"/>
          <a:ext cx="3069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844134692"/>
                    </a:ext>
                  </a:extLst>
                </a:gridCol>
                <a:gridCol w="2372422">
                  <a:extLst>
                    <a:ext uri="{9D8B030D-6E8A-4147-A177-3AD203B41FA5}">
                      <a16:colId xmlns:a16="http://schemas.microsoft.com/office/drawing/2014/main" val="3393456856"/>
                    </a:ext>
                  </a:extLst>
                </a:gridCol>
              </a:tblGrid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ẞ / 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Area coverage /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56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72.1527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751664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6553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8267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31512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06700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044A5FFB-C4AC-4641-16BF-83135FB3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646" y="1887910"/>
            <a:ext cx="5408371" cy="45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97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08FD-532E-077E-870B-82EE57EA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77055-D289-4B97-3818-49C9D512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86CC13B-80F2-2F4F-5941-29F37EF83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47683"/>
              </p:ext>
            </p:extLst>
          </p:nvPr>
        </p:nvGraphicFramePr>
        <p:xfrm>
          <a:off x="838200" y="3053230"/>
          <a:ext cx="3069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844134692"/>
                    </a:ext>
                  </a:extLst>
                </a:gridCol>
                <a:gridCol w="2372422">
                  <a:extLst>
                    <a:ext uri="{9D8B030D-6E8A-4147-A177-3AD203B41FA5}">
                      <a16:colId xmlns:a16="http://schemas.microsoft.com/office/drawing/2014/main" val="3393456856"/>
                    </a:ext>
                  </a:extLst>
                </a:gridCol>
              </a:tblGrid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ẞ / 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Area coverage /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56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72.1527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727931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78.4506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6553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8267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31512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06700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45BC1902-01FD-621E-3C14-46C26D2F6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849" y="1705030"/>
            <a:ext cx="5440409" cy="45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6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B4413-BCF2-6EE4-43C1-35B3C428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7A85D71-F10D-0A32-8625-F1B9681C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73360"/>
              </p:ext>
            </p:extLst>
          </p:nvPr>
        </p:nvGraphicFramePr>
        <p:xfrm>
          <a:off x="838200" y="3053230"/>
          <a:ext cx="3069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844134692"/>
                    </a:ext>
                  </a:extLst>
                </a:gridCol>
                <a:gridCol w="2372422">
                  <a:extLst>
                    <a:ext uri="{9D8B030D-6E8A-4147-A177-3AD203B41FA5}">
                      <a16:colId xmlns:a16="http://schemas.microsoft.com/office/drawing/2014/main" val="3393456856"/>
                    </a:ext>
                  </a:extLst>
                </a:gridCol>
              </a:tblGrid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ẞ / 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Area coverage /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56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72.1527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368897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78.4506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6553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75.1932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8267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31512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06700"/>
                  </a:ext>
                </a:extLst>
              </a:tr>
            </a:tbl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00E7530D-947E-6C06-0DEF-020D8F839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830" y="1705030"/>
            <a:ext cx="5388340" cy="45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7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17872-6D1F-E52E-54BA-3E237F4B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109C8-7EF7-04BE-D45A-419E775F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5D22046C-3881-F329-7B61-CC5041B92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916580"/>
              </p:ext>
            </p:extLst>
          </p:nvPr>
        </p:nvGraphicFramePr>
        <p:xfrm>
          <a:off x="838200" y="3053230"/>
          <a:ext cx="3069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844134692"/>
                    </a:ext>
                  </a:extLst>
                </a:gridCol>
                <a:gridCol w="2372422">
                  <a:extLst>
                    <a:ext uri="{9D8B030D-6E8A-4147-A177-3AD203B41FA5}">
                      <a16:colId xmlns:a16="http://schemas.microsoft.com/office/drawing/2014/main" val="3393456856"/>
                    </a:ext>
                  </a:extLst>
                </a:gridCol>
              </a:tblGrid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ẞ / 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Area coverage /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56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72.1527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25660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78.4506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6553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75.1932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8267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70.1752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31512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06700"/>
                  </a:ext>
                </a:extLst>
              </a:tr>
            </a:tbl>
          </a:graphicData>
        </a:graphic>
      </p:graphicFrame>
      <p:pic>
        <p:nvPicPr>
          <p:cNvPr id="16" name="Grafik 15">
            <a:extLst>
              <a:ext uri="{FF2B5EF4-FFF2-40B4-BE49-F238E27FC236}">
                <a16:creationId xmlns:a16="http://schemas.microsoft.com/office/drawing/2014/main" id="{2B030109-1EC8-F385-C251-E3621D68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268" y="1705450"/>
            <a:ext cx="5741489" cy="452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52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56B4-8595-E17B-80F2-3485BD7E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49326-EF63-C621-2E08-EDD9B109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Procedure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1A43A48A-89A0-C51D-8571-C65098131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914287"/>
              </p:ext>
            </p:extLst>
          </p:nvPr>
        </p:nvGraphicFramePr>
        <p:xfrm>
          <a:off x="838200" y="3053230"/>
          <a:ext cx="3069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844134692"/>
                    </a:ext>
                  </a:extLst>
                </a:gridCol>
                <a:gridCol w="2372422">
                  <a:extLst>
                    <a:ext uri="{9D8B030D-6E8A-4147-A177-3AD203B41FA5}">
                      <a16:colId xmlns:a16="http://schemas.microsoft.com/office/drawing/2014/main" val="3393456856"/>
                    </a:ext>
                  </a:extLst>
                </a:gridCol>
              </a:tblGrid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ẞ / 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Area coverage /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56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72.1527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285020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78.4506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6553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75.1932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8267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70.1752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431512"/>
                  </a:ext>
                </a:extLst>
              </a:tr>
              <a:tr h="363726">
                <a:tc>
                  <a:txBody>
                    <a:bodyPr/>
                    <a:lstStyle/>
                    <a:p>
                      <a:r>
                        <a:rPr lang="en-GB" noProof="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67.0490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106700"/>
                  </a:ext>
                </a:extLst>
              </a:tr>
            </a:tbl>
          </a:graphicData>
        </a:graphic>
      </p:graphicFrame>
      <p:pic>
        <p:nvPicPr>
          <p:cNvPr id="16" name="Grafik 15">
            <a:extLst>
              <a:ext uri="{FF2B5EF4-FFF2-40B4-BE49-F238E27FC236}">
                <a16:creationId xmlns:a16="http://schemas.microsoft.com/office/drawing/2014/main" id="{DE2B983E-5245-1A7B-EEE8-68D6A8105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16" y="1705030"/>
            <a:ext cx="5478310" cy="45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E8FCA-1D50-D09D-7F1D-E78413AE5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Day 2 - 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7E78BA-00D7-1435-B15D-3DDCF22F7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Continue work from yesterday</a:t>
            </a:r>
          </a:p>
          <a:p>
            <a:r>
              <a:rPr lang="en-GB" noProof="0" dirty="0"/>
              <a:t>Add safety features (all coils outside, …) (1 Person)</a:t>
            </a:r>
          </a:p>
          <a:p>
            <a:r>
              <a:rPr lang="en-GB" noProof="0" dirty="0"/>
              <a:t>Improve algorithm also with AI	</a:t>
            </a:r>
          </a:p>
          <a:p>
            <a:pPr lvl="1"/>
            <a:r>
              <a:rPr lang="en-GB" noProof="0" dirty="0"/>
              <a:t>Find best ẞ (1 Person)</a:t>
            </a:r>
          </a:p>
          <a:p>
            <a:pPr lvl="1"/>
            <a:r>
              <a:rPr lang="en-GB" noProof="0" dirty="0"/>
              <a:t>With best result add wire following (2 Persons)</a:t>
            </a:r>
          </a:p>
          <a:p>
            <a:r>
              <a:rPr lang="en-GB" noProof="0" dirty="0"/>
              <a:t>Third person tries to implement </a:t>
            </a:r>
            <a:r>
              <a:rPr lang="en-GB" noProof="0" dirty="0" err="1"/>
              <a:t>mäander</a:t>
            </a:r>
            <a:r>
              <a:rPr lang="en-GB" noProof="0" dirty="0"/>
              <a:t> lines (1 Person) also with AI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4968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C04C3-C081-3F1B-52F5-5797A3F6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Safety Features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228EAA-50F7-40F8-B214-0EE469F0A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Emergency-Stop when all 3 coils are outside</a:t>
            </a:r>
          </a:p>
          <a:p>
            <a:r>
              <a:rPr lang="en-GB" noProof="0" dirty="0"/>
              <a:t>Not implemented features:</a:t>
            </a:r>
          </a:p>
          <a:p>
            <a:pPr lvl="1"/>
            <a:r>
              <a:rPr lang="en-GB" noProof="0" dirty="0"/>
              <a:t>Multiple collision in quick succession failsafe</a:t>
            </a:r>
          </a:p>
        </p:txBody>
      </p:sp>
    </p:spTree>
    <p:extLst>
      <p:ext uri="{BB962C8B-B14F-4D97-AF65-F5344CB8AC3E}">
        <p14:creationId xmlns:p14="http://schemas.microsoft.com/office/powerpoint/2010/main" val="165743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AB00D-EF67-A9B9-7968-6EAC271B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AI improvement</a:t>
            </a:r>
          </a:p>
        </p:txBody>
      </p:sp>
      <p:pic>
        <p:nvPicPr>
          <p:cNvPr id="4" name="Inhaltsplatzhalter 11">
            <a:extLst>
              <a:ext uri="{FF2B5EF4-FFF2-40B4-BE49-F238E27FC236}">
                <a16:creationId xmlns:a16="http://schemas.microsoft.com/office/drawing/2014/main" id="{526D8111-8CC5-0696-85AF-29832B361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259" y="1896039"/>
            <a:ext cx="41960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4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103517-DDF1-0CE6-5945-BD0C62ED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Angle variation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90C8EE7-79B6-6729-84FF-28B014921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29" y="1810783"/>
            <a:ext cx="7422339" cy="476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92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0E3AC-F13F-F617-D0EA-D5BF8AB9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Driving a bow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E7B92F-3629-403A-3939-51E0725AE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296" y="2028912"/>
            <a:ext cx="6939528" cy="446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3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31E11-0CCB-0F2D-1A37-2E5126B3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Mäander</a:t>
            </a:r>
            <a:r>
              <a:rPr lang="en-GB" noProof="0" dirty="0"/>
              <a:t> path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68FF393-0F33-CF2B-DD30-B1F6A137F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513" y="2312370"/>
            <a:ext cx="4209453" cy="351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13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915DBA-7DF2-B31F-31BC-3EB4D1DE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Mäander</a:t>
            </a:r>
            <a:r>
              <a:rPr lang="en-GB" noProof="0" dirty="0"/>
              <a:t> path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96A8E1-D794-A8EB-9A36-653843D8A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789" y="2052802"/>
            <a:ext cx="3908355" cy="380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84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5CB20-68A8-A0C5-484A-D5D11BD0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AI Usage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C96A34-C11B-8B1E-B01C-3AB56BF0E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Gemini 3.1 PRO</a:t>
            </a:r>
          </a:p>
          <a:p>
            <a:r>
              <a:rPr lang="en-GB" noProof="0" dirty="0"/>
              <a:t>Typo finding and </a:t>
            </a:r>
            <a:r>
              <a:rPr lang="en-GB" noProof="0" dirty="0" err="1"/>
              <a:t>bugfixing</a:t>
            </a:r>
            <a:endParaRPr lang="en-GB" noProof="0" dirty="0"/>
          </a:p>
          <a:p>
            <a:r>
              <a:rPr lang="en-GB" noProof="0" dirty="0"/>
              <a:t>Complete </a:t>
            </a:r>
            <a:r>
              <a:rPr lang="en-GB" noProof="0" dirty="0" err="1"/>
              <a:t>Mäander</a:t>
            </a:r>
            <a:r>
              <a:rPr lang="en-GB" noProof="0" dirty="0"/>
              <a:t> path</a:t>
            </a:r>
          </a:p>
          <a:p>
            <a:r>
              <a:rPr lang="en-GB" noProof="0" dirty="0"/>
              <a:t>Assisting with improving the algorithm</a:t>
            </a:r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80151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AB4E-1901-399E-6684-C75B0EAD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</a:t>
            </a:r>
            <a:r>
              <a:rPr lang="de-DE" dirty="0" err="1"/>
              <a:t>improvements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D2EA3C-D012-F742-02CF-456D0FA0F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Perimeter </a:t>
            </a:r>
            <a:r>
              <a:rPr lang="de-DE" dirty="0" err="1"/>
              <a:t>following</a:t>
            </a:r>
            <a:endParaRPr lang="de-DE" dirty="0"/>
          </a:p>
          <a:p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Random / Mäander and Perimeter</a:t>
            </a:r>
          </a:p>
          <a:p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on different </a:t>
            </a:r>
            <a:r>
              <a:rPr lang="de-DE" dirty="0" err="1"/>
              <a:t>surface</a:t>
            </a:r>
            <a:r>
              <a:rPr lang="de-DE" dirty="0"/>
              <a:t> </a:t>
            </a:r>
            <a:r>
              <a:rPr lang="de-DE" dirty="0" err="1"/>
              <a:t>shapes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1870833"/>
      </p:ext>
    </p:extLst>
  </p:cSld>
  <p:clrMapOvr>
    <a:masterClrMapping/>
  </p:clrMapOvr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TM03457515[[fn=Aussicht]]</Template>
  <TotalTime>0</TotalTime>
  <Words>344</Words>
  <Application>Microsoft Office PowerPoint</Application>
  <PresentationFormat>Breitbild</PresentationFormat>
  <Paragraphs>99</Paragraphs>
  <Slides>23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Schoolbook</vt:lpstr>
      <vt:lpstr>Wingdings 2</vt:lpstr>
      <vt:lpstr>Aussicht</vt:lpstr>
      <vt:lpstr>Current Research Areas 2</vt:lpstr>
      <vt:lpstr>Goal Day 1</vt:lpstr>
      <vt:lpstr>Requirements</vt:lpstr>
      <vt:lpstr>Setup</vt:lpstr>
      <vt:lpstr>Plan Day 1</vt:lpstr>
      <vt:lpstr>Procedure</vt:lpstr>
      <vt:lpstr>Procedure</vt:lpstr>
      <vt:lpstr>Procedure</vt:lpstr>
      <vt:lpstr>Procedure</vt:lpstr>
      <vt:lpstr>Procedure</vt:lpstr>
      <vt:lpstr>Procedure</vt:lpstr>
      <vt:lpstr>Procedure</vt:lpstr>
      <vt:lpstr>Procedure</vt:lpstr>
      <vt:lpstr>Procedure</vt:lpstr>
      <vt:lpstr>Day 2 - Agenda</vt:lpstr>
      <vt:lpstr>Safety Features </vt:lpstr>
      <vt:lpstr>AI improvement</vt:lpstr>
      <vt:lpstr>Angle variation</vt:lpstr>
      <vt:lpstr>Driving a bow</vt:lpstr>
      <vt:lpstr>Mäander path</vt:lpstr>
      <vt:lpstr>Mäander path</vt:lpstr>
      <vt:lpstr>AI Usage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Josef Obwaller</dc:creator>
  <cp:lastModifiedBy>Julian Fritzer</cp:lastModifiedBy>
  <cp:revision>82</cp:revision>
  <dcterms:created xsi:type="dcterms:W3CDTF">2026-03-10T12:11:43Z</dcterms:created>
  <dcterms:modified xsi:type="dcterms:W3CDTF">2026-03-11T13:31:55Z</dcterms:modified>
</cp:coreProperties>
</file>